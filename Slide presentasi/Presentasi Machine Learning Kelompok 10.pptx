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Akurasi (%)</c:v>
                </c:pt>
              </c:strCache>
            </c:strRef>
          </c:tx>
          <c:spPr>
            <a:solidFill>
              <a:srgbClr val="7FB3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 Forest</c:v>
                </c:pt>
                <c:pt idx="1">
                  <c:v>XGBoost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93.91</c:v>
                </c:pt>
                <c:pt idx="1">
                  <c:v>97.17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6A-41C9-BC63-9FE7ACD10D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 Forest</c:v>
                </c:pt>
                <c:pt idx="1">
                  <c:v>XGBoost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68.61</c:v>
                </c:pt>
                <c:pt idx="1">
                  <c:v>80.47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6A-41C9-BC63-9FE7ACD10D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 Forest</c:v>
                </c:pt>
                <c:pt idx="1">
                  <c:v>XGBoost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96.22</c:v>
                </c:pt>
                <c:pt idx="1">
                  <c:v>97.85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6A-41C9-BC63-9FE7ACD10D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8823" y="222069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dirty="0" err="1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</a:t>
            </a:r>
            <a:r>
              <a:rPr lang="en-US" sz="36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Learning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78823" y="9635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Risiko Diabetes Mellitus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70263" y="1512180"/>
            <a:ext cx="493776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11127C-41C5-FBE5-1CC3-2D8BDB8E2D57}"/>
              </a:ext>
            </a:extLst>
          </p:cNvPr>
          <p:cNvSpPr/>
          <p:nvPr/>
        </p:nvSpPr>
        <p:spPr>
          <a:xfrm>
            <a:off x="378823" y="1727871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Teknologi Del  </a:t>
            </a: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Fakultas Vokasi  |  D-IV TRPL  |  2026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1CA96D6-C2E1-2701-6EFB-30167DBF11F9}"/>
              </a:ext>
            </a:extLst>
          </p:cNvPr>
          <p:cNvSpPr/>
          <p:nvPr/>
        </p:nvSpPr>
        <p:spPr>
          <a:xfrm>
            <a:off x="378823" y="2116309"/>
            <a:ext cx="7315200" cy="1236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Hizkia </a:t>
            </a:r>
            <a:r>
              <a:rPr lang="en-US" sz="1600" dirty="0" err="1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Sipayung</a:t>
            </a:r>
            <a:r>
              <a:rPr lang="en-US" sz="16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Nathanael Tampubolon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Whisnu </a:t>
            </a:r>
            <a:r>
              <a:rPr lang="en-US" sz="1600" dirty="0" err="1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Saragih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Leoni </a:t>
            </a:r>
            <a:r>
              <a:rPr lang="en-US" sz="1600" dirty="0" err="1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Sibuea</a:t>
            </a:r>
            <a:r>
              <a:rPr lang="en-US" sz="16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Imel Sinaga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Profil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6E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/ Sampel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Medis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6E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/ Fitur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Pasien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0D6E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97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Label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(Diabetes)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Fitur-Fitur Dataset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63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Usia, Jenis Kelamin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9359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935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Merokok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123944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239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Biometrik Klinis: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HbA1c, Glukosa Darah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63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Penyakit: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Hipertensi, Penyakit Jantung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59359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5935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Target: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diabetes (0 = Tidak, 1 = Ya)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Eksplorasi &amp; Pembersihan Data (EDA)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latin typeface="Cambria" pitchFamily="34" charset="0"/>
                <a:ea typeface="Cambria" pitchFamily="34" charset="-122"/>
                <a:cs typeface="Cambria" pitchFamily="34" charset="-120"/>
              </a:rPr>
              <a:t>Penanganan</a:t>
            </a:r>
            <a:r>
              <a:rPr lang="en-US" sz="13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Noise &amp; Missing Value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96162"/>
            <a:ext cx="3749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Kolom gender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 baris 'Other' → diimputasi dengan modus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Kolom smoking_history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35.816 baris 'No Info' → diimputasi dengan modus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Penanganan</a:t>
            </a: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Outlier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81328"/>
            <a:ext cx="3749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BMI: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7.086 baris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ekstrem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HbA1c: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1.315 baris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ekstrem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Glukosa Darah: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2.038 baris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ekstrem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Penanganan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cara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IQR Clipping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(tidak dihapus, dibatasi ke batas wajar)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0392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Kolom yang </a:t>
            </a: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dihapus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dihapus — tidak memiliki relevansi prediksi secara klinis.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EDA: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206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450342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42062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0D6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993392" y="4206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56432" y="450342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42062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0D6E8A"/>
          </a:solidFill>
          <a:ln/>
        </p:spPr>
      </p:sp>
      <p:sp>
        <p:nvSpPr>
          <p:cNvPr id="20" name="Text 18"/>
          <p:cNvSpPr/>
          <p:nvPr/>
        </p:nvSpPr>
        <p:spPr>
          <a:xfrm>
            <a:off x="3712464" y="4206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Clipping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75504" y="450342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42062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E85D04"/>
          </a:solidFill>
          <a:ln/>
        </p:spPr>
      </p:sp>
      <p:sp>
        <p:nvSpPr>
          <p:cNvPr id="23" name="Text 21"/>
          <p:cNvSpPr/>
          <p:nvPr/>
        </p:nvSpPr>
        <p:spPr>
          <a:xfrm>
            <a:off x="5431536" y="4206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Kolom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94576" y="450342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420624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4206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Pra-Pemrosesan Data (Preprocessing)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A6B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099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('Male','Female','never') → angka biner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LabelEncoder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0D6E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7099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Pemisahan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80.000 baris → Data Latih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baris → Data Uji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17099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(scaler.pkl)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skala fitur agar adil bagi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005F7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" y="3538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Reduksi Dimensi (PCA)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8862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(pca.pkl) — mempertahankan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varians data asli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3538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8862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Penyeimbangan kelas pada data latih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sintetis pasien diabetes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4a. Pelatihan Model — Hyperparameter Tuning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41148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4114800" cy="658368"/>
          </a:xfrm>
          <a:prstGeom prst="roundRect">
            <a:avLst>
              <a:gd name="adj" fmla="val 19444"/>
            </a:avLst>
          </a:prstGeom>
          <a:solidFill>
            <a:srgbClr val="7FB3C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920240"/>
            <a:ext cx="4114800" cy="292608"/>
          </a:xfrm>
          <a:prstGeom prst="rect">
            <a:avLst/>
          </a:prstGeom>
          <a:solidFill>
            <a:srgbClr val="7FB3C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7276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66420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6642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322576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Mencoba SEMUA kombinasi parameter yang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ditentukan secara menyeluruh (exhaustive search).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lambat, tapi menjamin parameter terbaik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dalam ruang pencarian yang didefinisikan.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yang Dicari: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jumlah pohon
</a:t>
            </a:r>
            <a:r>
              <a:rPr lang="en-US" sz="1100" b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kedalaman pohon
</a:t>
            </a:r>
            <a:r>
              <a:rPr lang="en-US" sz="1100" b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min sampel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41148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54480"/>
            <a:ext cx="4114800" cy="658368"/>
          </a:xfrm>
          <a:prstGeom prst="roundRect">
            <a:avLst>
              <a:gd name="adj" fmla="val 19444"/>
            </a:avLst>
          </a:prstGeom>
          <a:solidFill>
            <a:srgbClr val="E85D04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920240"/>
            <a:ext cx="4114800" cy="29260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7276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78040" y="166420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A2342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6642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30428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sampel acak kombinasi parameter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distribusi yang ditentukan. Lebih cepat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tidak semua kombinasi dicoba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ruang parameter yang sangat besar.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yang Dicari: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7307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jumlah pohon boosting
</a:t>
            </a: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laju belajar model
</a:t>
            </a: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kompleksitas pohon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4b. Hasil Evaluasi Model (Data Uji 20.000 Pasien)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14150500"/>
              </p:ext>
            </p:extLst>
          </p:nvPr>
        </p:nvGraphicFramePr>
        <p:xfrm>
          <a:off x="274320" y="1005840"/>
          <a:ext cx="8595360" cy="2782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77640"/>
            <a:ext cx="8595360" cy="320040"/>
          </a:xfrm>
          <a:prstGeom prst="roundRect">
            <a:avLst>
              <a:gd name="adj" fmla="val 20000"/>
            </a:avLst>
          </a:prstGeom>
          <a:solidFill>
            <a:srgbClr val="0A234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9436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74320" y="4315968"/>
            <a:ext cx="8595360" cy="173736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315968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4315968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93.91%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4315968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97.17% 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4489704"/>
            <a:ext cx="8595360" cy="1737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489704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0" y="4489704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68.61%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4489704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80.47% 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4663440"/>
            <a:ext cx="8595360" cy="173736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0" y="4663440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96.22%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4663440"/>
            <a:ext cx="27432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97.85%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4c. Kelebihan Masing-Masing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594360"/>
          </a:xfrm>
          <a:prstGeom prst="roundRect">
            <a:avLst>
              <a:gd name="adj" fmla="val 21538"/>
            </a:avLst>
          </a:prstGeom>
          <a:solidFill>
            <a:srgbClr val="E85D04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4160520" cy="2743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241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3840480" cy="1435608"/>
          </a:xfrm>
          <a:prstGeom prst="roundRect">
            <a:avLst>
              <a:gd name="adj" fmla="val 6369"/>
            </a:avLst>
          </a:prstGeom>
          <a:solidFill>
            <a:srgbClr val="FFF3E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10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Belajar Berantai (Boosting)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39696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berurutan — pohon ke-2 memperbaiki kesalahan pohon ke-1. Sangat ahli menangkap pola "borderline diabetes" yang kompleks.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3840480" cy="1435608"/>
          </a:xfrm>
          <a:prstGeom prst="roundRect">
            <a:avLst>
              <a:gd name="adj" fmla="val 6369"/>
            </a:avLst>
          </a:prstGeom>
          <a:solidFill>
            <a:srgbClr val="FFF3E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Akses Data Penuh (Tanpa PCA)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12464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Dilatih dari data asli tanpa kompresi PCA, sehingga memiliki akses ke 100% informasi pasien. Inilah pendorong F1-Score 80.47%.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1605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05840"/>
            <a:ext cx="4160520" cy="594360"/>
          </a:xfrm>
          <a:prstGeom prst="roundRect">
            <a:avLst>
              <a:gd name="adj" fmla="val 21538"/>
            </a:avLst>
          </a:prstGeom>
          <a:solidFill>
            <a:srgbClr val="1A6B8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325880"/>
            <a:ext cx="4160520" cy="27432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241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737360"/>
            <a:ext cx="3840480" cy="941832"/>
          </a:xfrm>
          <a:prstGeom prst="roundRect">
            <a:avLst>
              <a:gd name="adj" fmla="val 9709"/>
            </a:avLst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7922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Kebal Data Kotor (Bagging)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0848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Ratusan pohon voting independen. Jika ada input salah ketik dokter, mayoritas pohon lain tetap memberikan hasil yang waras.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70632"/>
            <a:ext cx="3840480" cy="941832"/>
          </a:xfrm>
          <a:prstGeom prst="roundRect">
            <a:avLst>
              <a:gd name="adj" fmla="val 9709"/>
            </a:avLst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8254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Mudah Dijelaskan ke Dokter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1181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menjawab: "Kenapa pasien ini divonis diabetes?" (HbA1c tinggi + BMI besar). XGBoost terlalu kompleks untuk dijelaskan secara klinis.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803904"/>
            <a:ext cx="3840480" cy="941832"/>
          </a:xfrm>
          <a:prstGeom prst="roundRect">
            <a:avLst>
              <a:gd name="adj" fmla="val 9709"/>
            </a:avLst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858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 &amp; Konsisten di Lapangan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1513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sulit overfit. Akurasi 93% hari ini cenderung tetap konsisten saat diuji ke pasien rumah sakit lain.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577</Words>
  <Application>Microsoft Office PowerPoint</Application>
  <PresentationFormat>On-screen Show (16:9)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DiaPredict AI</dc:title>
  <dc:subject>PptxGenJS Presentation</dc:subject>
  <dc:creator>PptxGenJS</dc:creator>
  <cp:lastModifiedBy>whisnu abraham</cp:lastModifiedBy>
  <cp:revision>4</cp:revision>
  <dcterms:created xsi:type="dcterms:W3CDTF">2026-06-25T03:59:06Z</dcterms:created>
  <dcterms:modified xsi:type="dcterms:W3CDTF">2026-06-25T06:02:19Z</dcterms:modified>
</cp:coreProperties>
</file>